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1" r:id="rId6"/>
    <p:sldId id="272" r:id="rId7"/>
    <p:sldId id="260" r:id="rId8"/>
    <p:sldId id="262" r:id="rId9"/>
    <p:sldId id="273" r:id="rId10"/>
    <p:sldId id="274" r:id="rId11"/>
    <p:sldId id="275" r:id="rId12"/>
    <p:sldId id="277" r:id="rId13"/>
    <p:sldId id="27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F10C"/>
    <a:srgbClr val="00CC00"/>
    <a:srgbClr val="008200"/>
    <a:srgbClr val="00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237E11-1094-69AF-7060-21D0DF2FD91B}" v="1" dt="2026-04-18T16:56:16.584"/>
    <p1510:client id="{F1D29410-C739-C86C-3727-DC63EC86CEF7}" v="33" dt="2026-04-17T16:24:43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75" autoAdjust="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7DFB8-A25D-4343-B516-B1E8AB0AA4FB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CBD90C-AA85-4993-8EB6-76EB5E29832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0052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Miki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8341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Miki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4467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Simo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3010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Vendel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9660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simo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1527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vendel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180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vendel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018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frontend </a:t>
            </a:r>
            <a:r>
              <a:rPr lang="en-US" dirty="0" err="1"/>
              <a:t>egy</a:t>
            </a:r>
            <a:r>
              <a:rPr lang="en-US" dirty="0"/>
              <a:t> React </a:t>
            </a:r>
            <a:r>
              <a:rPr lang="en-US" dirty="0" err="1"/>
              <a:t>alapú</a:t>
            </a:r>
            <a:r>
              <a:rPr lang="en-US" dirty="0"/>
              <a:t>, Vite-</a:t>
            </a:r>
            <a:r>
              <a:rPr lang="en-US" dirty="0" err="1"/>
              <a:t>tel</a:t>
            </a:r>
            <a:r>
              <a:rPr lang="en-US" dirty="0"/>
              <a:t> </a:t>
            </a:r>
            <a:r>
              <a:rPr lang="en-US" dirty="0" err="1"/>
              <a:t>felépített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fejlesztést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projektstruktúrát</a:t>
            </a:r>
            <a:r>
              <a:rPr lang="en-US" dirty="0"/>
              <a:t> ad. A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tervezési</a:t>
            </a:r>
            <a:r>
              <a:rPr lang="en-US" dirty="0"/>
              <a:t> </a:t>
            </a:r>
            <a:r>
              <a:rPr lang="en-US" dirty="0" err="1"/>
              <a:t>elv</a:t>
            </a:r>
            <a:r>
              <a:rPr lang="en-US" dirty="0"/>
              <a:t> 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gondolkodás</a:t>
            </a:r>
            <a:r>
              <a:rPr lang="en-US" dirty="0"/>
              <a:t>: a </a:t>
            </a:r>
            <a:r>
              <a:rPr lang="en-US" dirty="0" err="1"/>
              <a:t>felület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, </a:t>
            </a:r>
            <a:r>
              <a:rPr lang="en-US" dirty="0" err="1"/>
              <a:t>újrahasznosítható</a:t>
            </a:r>
            <a:r>
              <a:rPr lang="en-US" dirty="0"/>
              <a:t> </a:t>
            </a:r>
            <a:r>
              <a:rPr lang="en-US" dirty="0" err="1"/>
              <a:t>egységekből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könnyebb</a:t>
            </a:r>
            <a:r>
              <a:rPr lang="en-US" dirty="0"/>
              <a:t> </a:t>
            </a:r>
            <a:r>
              <a:rPr lang="en-US" dirty="0" err="1"/>
              <a:t>fejleszteni</a:t>
            </a:r>
            <a:r>
              <a:rPr lang="en-US" dirty="0"/>
              <a:t>, </a:t>
            </a:r>
            <a:r>
              <a:rPr lang="en-US" dirty="0" err="1"/>
              <a:t>tesztelni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bővíteni</a:t>
            </a:r>
            <a:r>
              <a:rPr lang="en-US" dirty="0"/>
              <a:t> is.</a:t>
            </a:r>
            <a:endParaRPr lang="hu-HU" dirty="0"/>
          </a:p>
          <a:p>
            <a:endParaRPr lang="en-US" dirty="0">
              <a:ea typeface="Calibri"/>
              <a:cs typeface="+mn-lt"/>
            </a:endParaRPr>
          </a:p>
          <a:p>
            <a:r>
              <a:rPr lang="en-US" dirty="0"/>
              <a:t>A </a:t>
            </a:r>
            <a:r>
              <a:rPr lang="en-US" dirty="0" err="1"/>
              <a:t>projektben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oldalszintű</a:t>
            </a:r>
            <a:r>
              <a:rPr lang="en-US" dirty="0"/>
              <a:t> </a:t>
            </a:r>
            <a:r>
              <a:rPr lang="en-US" dirty="0" err="1"/>
              <a:t>komponensek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a </a:t>
            </a:r>
            <a:r>
              <a:rPr lang="en-US" dirty="0" err="1"/>
              <a:t>kezdőoldal</a:t>
            </a:r>
            <a:r>
              <a:rPr lang="en-US" dirty="0"/>
              <a:t>, </a:t>
            </a:r>
            <a:r>
              <a:rPr lang="en-US" dirty="0" err="1"/>
              <a:t>bemutatkozó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, </a:t>
            </a:r>
            <a:r>
              <a:rPr lang="en-US" dirty="0" err="1"/>
              <a:t>ötletelős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, </a:t>
            </a:r>
            <a:r>
              <a:rPr lang="en-US" dirty="0" err="1"/>
              <a:t>rendelés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profil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.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funkciókat</a:t>
            </a:r>
            <a:r>
              <a:rPr lang="en-US" dirty="0"/>
              <a:t> </a:t>
            </a:r>
            <a:r>
              <a:rPr lang="en-US" dirty="0" err="1"/>
              <a:t>fedik</a:t>
            </a:r>
            <a:r>
              <a:rPr lang="en-US" dirty="0"/>
              <a:t> le,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mindegyiknek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felelőssége</a:t>
            </a:r>
            <a:r>
              <a:rPr lang="en-US" dirty="0"/>
              <a:t> van. </a:t>
            </a:r>
            <a:r>
              <a:rPr lang="en-US" dirty="0" err="1"/>
              <a:t>Emellett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elemek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a </a:t>
            </a:r>
            <a:r>
              <a:rPr lang="en-US" dirty="0" err="1"/>
              <a:t>fejléc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lábléc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oldalon</a:t>
            </a:r>
            <a:r>
              <a:rPr lang="en-US" dirty="0"/>
              <a:t> </a:t>
            </a:r>
            <a:r>
              <a:rPr lang="en-US" dirty="0" err="1"/>
              <a:t>egységes</a:t>
            </a:r>
            <a:r>
              <a:rPr lang="en-US" dirty="0"/>
              <a:t> </a:t>
            </a:r>
            <a:r>
              <a:rPr lang="en-US" dirty="0" err="1"/>
              <a:t>megjelenést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.</a:t>
            </a:r>
            <a:endParaRPr lang="hu-HU" dirty="0"/>
          </a:p>
          <a:p>
            <a:endParaRPr lang="en-US" dirty="0">
              <a:cs typeface="+mn-lt"/>
            </a:endParaRPr>
          </a:p>
          <a:p>
            <a:r>
              <a:rPr lang="en-US" dirty="0"/>
              <a:t>A </a:t>
            </a:r>
            <a:r>
              <a:rPr lang="en-US" dirty="0" err="1"/>
              <a:t>felhasználókezelés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komponensekkel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: </a:t>
            </a:r>
            <a:r>
              <a:rPr lang="en-US" dirty="0" err="1"/>
              <a:t>bejelentkezés</a:t>
            </a:r>
            <a:r>
              <a:rPr lang="en-US" dirty="0"/>
              <a:t>, </a:t>
            </a:r>
            <a:r>
              <a:rPr lang="en-US" dirty="0" err="1"/>
              <a:t>regisztráció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autentikációs</a:t>
            </a:r>
            <a:r>
              <a:rPr lang="en-US" dirty="0"/>
              <a:t> modal </a:t>
            </a:r>
            <a:r>
              <a:rPr lang="en-US" dirty="0" err="1"/>
              <a:t>ablak</a:t>
            </a:r>
            <a:r>
              <a:rPr lang="en-US" dirty="0"/>
              <a:t>. Ez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hitelesítési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elkülönül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funkcióktól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átláthatóbb</a:t>
            </a:r>
            <a:r>
              <a:rPr lang="en-US" dirty="0"/>
              <a:t> </a:t>
            </a:r>
            <a:r>
              <a:rPr lang="en-US" dirty="0" err="1"/>
              <a:t>marad</a:t>
            </a:r>
            <a:r>
              <a:rPr lang="en-US" dirty="0"/>
              <a:t> a </a:t>
            </a:r>
            <a:r>
              <a:rPr lang="en-US" dirty="0" err="1"/>
              <a:t>kód</a:t>
            </a:r>
            <a:r>
              <a:rPr lang="en-US" dirty="0">
                <a:highlight>
                  <a:srgbClr val="191A1B"/>
                </a:highlight>
              </a:rPr>
              <a:t>.</a:t>
            </a:r>
            <a:endParaRPr lang="hu-HU" dirty="0"/>
          </a:p>
          <a:p>
            <a:endParaRPr lang="en-US" dirty="0">
              <a:ea typeface="Calibri"/>
              <a:cs typeface="+mn-lt"/>
            </a:endParaRPr>
          </a:p>
          <a:p>
            <a:r>
              <a:rPr lang="en-US" dirty="0"/>
              <a:t>A </a:t>
            </a:r>
            <a:r>
              <a:rPr lang="en-US" dirty="0" err="1"/>
              <a:t>stílusok</a:t>
            </a:r>
            <a:r>
              <a:rPr lang="en-US" dirty="0"/>
              <a:t> </a:t>
            </a:r>
            <a:r>
              <a:rPr lang="en-US" dirty="0" err="1"/>
              <a:t>modulárisan</a:t>
            </a:r>
            <a:r>
              <a:rPr lang="en-US" dirty="0"/>
              <a:t>, </a:t>
            </a:r>
            <a:r>
              <a:rPr lang="en-US" dirty="0" err="1"/>
              <a:t>külön</a:t>
            </a:r>
            <a:r>
              <a:rPr lang="en-US" dirty="0"/>
              <a:t> CSS </a:t>
            </a:r>
            <a:r>
              <a:rPr lang="en-US" dirty="0" err="1"/>
              <a:t>fájlokban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en-US" dirty="0"/>
              <a:t> </a:t>
            </a:r>
            <a:r>
              <a:rPr lang="en-US" dirty="0" err="1"/>
              <a:t>kezelve</a:t>
            </a:r>
            <a:r>
              <a:rPr lang="en-US" dirty="0"/>
              <a:t>. Ez </a:t>
            </a:r>
            <a:r>
              <a:rPr lang="en-US" dirty="0" err="1"/>
              <a:t>segít</a:t>
            </a:r>
            <a:r>
              <a:rPr lang="en-US" dirty="0"/>
              <a:t> </a:t>
            </a:r>
            <a:r>
              <a:rPr lang="en-US" dirty="0" err="1"/>
              <a:t>abban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egy-egy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kinézete</a:t>
            </a:r>
            <a:r>
              <a:rPr lang="en-US" dirty="0"/>
              <a:t> ne </a:t>
            </a:r>
            <a:r>
              <a:rPr lang="en-US" dirty="0" err="1"/>
              <a:t>keveredjen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részekkel</a:t>
            </a:r>
            <a:r>
              <a:rPr lang="en-US" dirty="0"/>
              <a:t>. </a:t>
            </a:r>
            <a:r>
              <a:rPr lang="en-US" dirty="0" err="1"/>
              <a:t>Összességében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a </a:t>
            </a:r>
            <a:r>
              <a:rPr lang="en-US" dirty="0" err="1"/>
              <a:t>struktúra</a:t>
            </a:r>
            <a:r>
              <a:rPr lang="en-US" dirty="0"/>
              <a:t> </a:t>
            </a:r>
            <a:r>
              <a:rPr lang="en-US" dirty="0" err="1"/>
              <a:t>skálázható</a:t>
            </a:r>
            <a:r>
              <a:rPr lang="en-US" dirty="0"/>
              <a:t>: ha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,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komponenst</a:t>
            </a:r>
            <a:r>
              <a:rPr lang="en-US" dirty="0"/>
              <a:t> </a:t>
            </a:r>
            <a:r>
              <a:rPr lang="en-US" dirty="0" err="1"/>
              <a:t>adunk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a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rendszerhez</a:t>
            </a:r>
            <a:r>
              <a:rPr lang="en-US" dirty="0"/>
              <a:t>, </a:t>
            </a:r>
            <a:r>
              <a:rPr lang="en-US" dirty="0" err="1"/>
              <a:t>anélkül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egész</a:t>
            </a:r>
            <a:r>
              <a:rPr lang="en-US" dirty="0"/>
              <a:t> </a:t>
            </a:r>
            <a:r>
              <a:rPr lang="en-US" dirty="0" err="1"/>
              <a:t>alkalmazást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 </a:t>
            </a:r>
            <a:r>
              <a:rPr lang="en-US" dirty="0" err="1"/>
              <a:t>kellene</a:t>
            </a:r>
            <a:r>
              <a:rPr lang="en-US" dirty="0"/>
              <a:t> </a:t>
            </a:r>
            <a:r>
              <a:rPr lang="en-US" dirty="0" err="1"/>
              <a:t>szervezni</a:t>
            </a:r>
            <a:r>
              <a:rPr lang="en-US" dirty="0">
                <a:solidFill>
                  <a:srgbClr val="BFBFBF"/>
                </a:solidFill>
              </a:rPr>
              <a:t>.</a:t>
            </a:r>
            <a:br>
              <a:rPr lang="en-US" dirty="0">
                <a:cs typeface="+mn-lt"/>
              </a:rPr>
            </a:br>
            <a:endParaRPr lang="en-US" dirty="0">
              <a:cs typeface="+mn-lt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9335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reszponzivitás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asztali</a:t>
            </a:r>
            <a:r>
              <a:rPr lang="en-US" dirty="0"/>
              <a:t> </a:t>
            </a:r>
            <a:r>
              <a:rPr lang="en-US" dirty="0" err="1"/>
              <a:t>gépen</a:t>
            </a:r>
            <a:r>
              <a:rPr lang="en-US" dirty="0"/>
              <a:t>, </a:t>
            </a:r>
            <a:r>
              <a:rPr lang="en-US" dirty="0" err="1"/>
              <a:t>tableten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is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használható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 Nem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arról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“</a:t>
            </a:r>
            <a:r>
              <a:rPr lang="en-US" dirty="0" err="1"/>
              <a:t>elférjen</a:t>
            </a:r>
            <a:r>
              <a:rPr lang="en-US" dirty="0"/>
              <a:t>” a </a:t>
            </a:r>
            <a:r>
              <a:rPr lang="en-US" dirty="0" err="1"/>
              <a:t>képernyőn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arról</a:t>
            </a:r>
            <a:r>
              <a:rPr lang="en-US" dirty="0"/>
              <a:t> is,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 </a:t>
            </a:r>
            <a:r>
              <a:rPr lang="en-US" dirty="0" err="1"/>
              <a:t>konzisztens</a:t>
            </a:r>
            <a:r>
              <a:rPr lang="en-US" dirty="0"/>
              <a:t> </a:t>
            </a:r>
            <a:r>
              <a:rPr lang="en-US" dirty="0" err="1"/>
              <a:t>maradjon</a:t>
            </a:r>
            <a:r>
              <a:rPr lang="en-US" dirty="0"/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/>
              <a:t>A </a:t>
            </a:r>
            <a:r>
              <a:rPr lang="en-US" dirty="0" err="1"/>
              <a:t>felület</a:t>
            </a:r>
            <a:r>
              <a:rPr lang="en-US" dirty="0"/>
              <a:t> </a:t>
            </a:r>
            <a:r>
              <a:rPr lang="en-US" dirty="0" err="1"/>
              <a:t>kialakításánál</a:t>
            </a:r>
            <a:r>
              <a:rPr lang="en-US" dirty="0"/>
              <a:t> </a:t>
            </a:r>
            <a:r>
              <a:rPr lang="en-US" dirty="0" err="1"/>
              <a:t>mobil-első</a:t>
            </a:r>
            <a:r>
              <a:rPr lang="en-US" dirty="0"/>
              <a:t> </a:t>
            </a:r>
            <a:r>
              <a:rPr lang="en-US" dirty="0" err="1"/>
              <a:t>megközelítést</a:t>
            </a:r>
            <a:r>
              <a:rPr lang="en-US" dirty="0"/>
              <a:t>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követni</a:t>
            </a:r>
            <a:r>
              <a:rPr lang="en-US" dirty="0"/>
              <a:t>: </a:t>
            </a:r>
            <a:r>
              <a:rPr lang="en-US" dirty="0" err="1"/>
              <a:t>először</a:t>
            </a:r>
            <a:r>
              <a:rPr lang="en-US" dirty="0"/>
              <a:t> a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kijelzőre</a:t>
            </a:r>
            <a:r>
              <a:rPr lang="en-US" dirty="0"/>
              <a:t> </a:t>
            </a:r>
            <a:r>
              <a:rPr lang="en-US" dirty="0" err="1"/>
              <a:t>tervezzük</a:t>
            </a:r>
            <a:r>
              <a:rPr lang="en-US" dirty="0"/>
              <a:t> meg a </a:t>
            </a:r>
            <a:r>
              <a:rPr lang="en-US" dirty="0" err="1"/>
              <a:t>tiszta</a:t>
            </a:r>
            <a:r>
              <a:rPr lang="en-US" dirty="0"/>
              <a:t>, </a:t>
            </a:r>
            <a:r>
              <a:rPr lang="en-US" dirty="0" err="1"/>
              <a:t>lényegre</a:t>
            </a:r>
            <a:r>
              <a:rPr lang="en-US" dirty="0"/>
              <a:t> </a:t>
            </a:r>
            <a:r>
              <a:rPr lang="en-US" dirty="0" err="1"/>
              <a:t>törő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bővítjük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képernyőkre</a:t>
            </a:r>
            <a:r>
              <a:rPr lang="en-US" dirty="0"/>
              <a:t>.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biztos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legszűkebb</a:t>
            </a:r>
            <a:r>
              <a:rPr lang="en-US" dirty="0"/>
              <a:t> </a:t>
            </a:r>
            <a:r>
              <a:rPr lang="en-US" dirty="0" err="1"/>
              <a:t>helyzetben</a:t>
            </a:r>
            <a:r>
              <a:rPr lang="en-US" dirty="0"/>
              <a:t> is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működik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. A </a:t>
            </a:r>
            <a:r>
              <a:rPr lang="en-US" dirty="0" err="1"/>
              <a:t>layoutok</a:t>
            </a:r>
            <a:r>
              <a:rPr lang="en-US" dirty="0"/>
              <a:t> </a:t>
            </a:r>
            <a:r>
              <a:rPr lang="en-US" dirty="0" err="1"/>
              <a:t>rugalmasak</a:t>
            </a:r>
            <a:r>
              <a:rPr lang="en-US" dirty="0"/>
              <a:t>: a </a:t>
            </a:r>
            <a:r>
              <a:rPr lang="en-US" dirty="0" err="1"/>
              <a:t>blokkok</a:t>
            </a:r>
            <a:r>
              <a:rPr lang="en-US" dirty="0"/>
              <a:t>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rendeződnek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,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képernyőn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oszlopban</a:t>
            </a:r>
            <a:r>
              <a:rPr lang="en-US" dirty="0"/>
              <a:t> is </a:t>
            </a:r>
            <a:r>
              <a:rPr lang="en-US" dirty="0" err="1"/>
              <a:t>megjelenhetnek</a:t>
            </a:r>
            <a:r>
              <a:rPr lang="en-US" dirty="0"/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/>
              <a:t>A </a:t>
            </a:r>
            <a:r>
              <a:rPr lang="en-US" dirty="0" err="1"/>
              <a:t>töréspontokkal</a:t>
            </a:r>
            <a:r>
              <a:rPr lang="en-US" dirty="0"/>
              <a:t> </a:t>
            </a:r>
            <a:r>
              <a:rPr lang="en-US" dirty="0" err="1"/>
              <a:t>szabályozzuk</a:t>
            </a:r>
            <a:r>
              <a:rPr lang="en-US" dirty="0"/>
              <a:t>, </a:t>
            </a:r>
            <a:r>
              <a:rPr lang="en-US" dirty="0" err="1"/>
              <a:t>mikor</a:t>
            </a:r>
            <a:r>
              <a:rPr lang="en-US" dirty="0"/>
              <a:t> </a:t>
            </a:r>
            <a:r>
              <a:rPr lang="en-US" dirty="0" err="1"/>
              <a:t>változzon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</a:t>
            </a:r>
            <a:r>
              <a:rPr lang="en-US" dirty="0"/>
              <a:t>, a </a:t>
            </a:r>
            <a:r>
              <a:rPr lang="en-US" dirty="0" err="1"/>
              <a:t>betűméret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a </a:t>
            </a:r>
            <a:r>
              <a:rPr lang="en-US" dirty="0" err="1"/>
              <a:t>térköz</a:t>
            </a:r>
            <a:r>
              <a:rPr lang="en-US" dirty="0"/>
              <a:t>. </a:t>
            </a:r>
          </a:p>
          <a:p>
            <a:r>
              <a:rPr lang="en-US" dirty="0" err="1"/>
              <a:t>Kiemelten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olvashatóság</a:t>
            </a:r>
            <a:r>
              <a:rPr lang="en-US" dirty="0"/>
              <a:t>: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kontraszt</a:t>
            </a:r>
            <a:r>
              <a:rPr lang="en-US" dirty="0"/>
              <a:t>, </a:t>
            </a:r>
            <a:r>
              <a:rPr lang="en-US" dirty="0" err="1"/>
              <a:t>kényelmes</a:t>
            </a:r>
            <a:r>
              <a:rPr lang="en-US" dirty="0"/>
              <a:t> </a:t>
            </a:r>
            <a:r>
              <a:rPr lang="en-US" dirty="0" err="1"/>
              <a:t>betűméret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elkülöníthető</a:t>
            </a:r>
            <a:r>
              <a:rPr lang="en-US" dirty="0"/>
              <a:t> </a:t>
            </a:r>
            <a:r>
              <a:rPr lang="en-US" dirty="0" err="1"/>
              <a:t>tartalmi</a:t>
            </a:r>
            <a:r>
              <a:rPr lang="en-US" dirty="0"/>
              <a:t> </a:t>
            </a:r>
            <a:r>
              <a:rPr lang="en-US" dirty="0" err="1"/>
              <a:t>egységek</a:t>
            </a:r>
            <a:r>
              <a:rPr lang="en-US" dirty="0"/>
              <a:t>. </a:t>
            </a:r>
            <a:endParaRPr lang="en-US"/>
          </a:p>
          <a:p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figyelni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arra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gombok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kattintható</a:t>
            </a:r>
            <a:r>
              <a:rPr lang="en-US" dirty="0"/>
              <a:t> </a:t>
            </a:r>
            <a:r>
              <a:rPr lang="en-US" dirty="0" err="1"/>
              <a:t>elemek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 </a:t>
            </a:r>
            <a:r>
              <a:rPr lang="en-US" dirty="0" err="1"/>
              <a:t>nagyok</a:t>
            </a:r>
            <a:r>
              <a:rPr lang="en-US" dirty="0"/>
              <a:t> </a:t>
            </a:r>
            <a:r>
              <a:rPr lang="en-US" dirty="0" err="1"/>
              <a:t>legyenek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érintéshez</a:t>
            </a:r>
            <a:r>
              <a:rPr lang="en-US" dirty="0"/>
              <a:t>,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 </a:t>
            </a:r>
            <a:r>
              <a:rPr lang="en-US" dirty="0" err="1"/>
              <a:t>köztük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 </a:t>
            </a:r>
            <a:r>
              <a:rPr lang="en-US" dirty="0" err="1"/>
              <a:t>hely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ne </a:t>
            </a:r>
            <a:r>
              <a:rPr lang="en-US" dirty="0" err="1"/>
              <a:t>történjen</a:t>
            </a:r>
            <a:r>
              <a:rPr lang="en-US" dirty="0"/>
              <a:t> </a:t>
            </a:r>
            <a:r>
              <a:rPr lang="en-US" dirty="0" err="1"/>
              <a:t>félrekattintás</a:t>
            </a:r>
            <a:r>
              <a:rPr lang="en-US" dirty="0"/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Egy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kett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helyen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boostrapet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hasznaltam</a:t>
            </a:r>
            <a:r>
              <a:rPr lang="en-US" dirty="0">
                <a:ea typeface="Calibri"/>
                <a:cs typeface="Calibri"/>
              </a:rPr>
              <a:t> </a:t>
            </a:r>
          </a:p>
          <a:p>
            <a:r>
              <a:rPr lang="en-US" dirty="0"/>
              <a:t>A </a:t>
            </a:r>
            <a:r>
              <a:rPr lang="en-US" dirty="0" err="1"/>
              <a:t>frontendben</a:t>
            </a:r>
            <a:r>
              <a:rPr lang="en-US" dirty="0"/>
              <a:t> a </a:t>
            </a:r>
            <a:r>
              <a:rPr lang="en-US" dirty="0" err="1"/>
              <a:t>reszponzivitást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Bootstrap-pel </a:t>
            </a:r>
            <a:r>
              <a:rPr lang="en-US" dirty="0" err="1"/>
              <a:t>oldottam</a:t>
            </a:r>
            <a:r>
              <a:rPr lang="en-US" dirty="0"/>
              <a:t> meg,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, </a:t>
            </a:r>
            <a:r>
              <a:rPr lang="en-US" dirty="0" err="1"/>
              <a:t>komponensenként</a:t>
            </a:r>
            <a:r>
              <a:rPr lang="en-US" dirty="0"/>
              <a:t> </a:t>
            </a:r>
            <a:r>
              <a:rPr lang="en-US" dirty="0" err="1"/>
              <a:t>szétválasztott</a:t>
            </a:r>
            <a:r>
              <a:rPr lang="en-US" dirty="0"/>
              <a:t> CSS </a:t>
            </a:r>
            <a:r>
              <a:rPr lang="en-US" dirty="0" err="1"/>
              <a:t>fájlokkal</a:t>
            </a:r>
          </a:p>
          <a:p>
            <a:r>
              <a:rPr lang="en-US" dirty="0"/>
              <a:t> 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elemeknel</a:t>
            </a:r>
            <a:r>
              <a:rPr lang="en-US" dirty="0"/>
              <a:t> a media </a:t>
            </a:r>
            <a:r>
              <a:rPr lang="en-US" dirty="0" err="1"/>
              <a:t>querykkel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kezeltem</a:t>
            </a:r>
            <a:r>
              <a:rPr lang="en-US" dirty="0"/>
              <a:t> a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kijelzőket</a:t>
            </a:r>
            <a:r>
              <a:rPr lang="en-US" dirty="0"/>
              <a:t>.</a:t>
            </a:r>
          </a:p>
          <a:p>
            <a:r>
              <a:rPr lang="en-US" dirty="0" err="1">
                <a:ea typeface="Calibri" panose="020F0502020204030204"/>
                <a:cs typeface="Calibri" panose="020F0502020204030204"/>
              </a:rPr>
              <a:t>Illetve</a:t>
            </a:r>
            <a:r>
              <a:rPr lang="en-US" dirty="0">
                <a:ea typeface="Calibri" panose="020F0502020204030204"/>
                <a:cs typeface="Calibri" panose="020F0502020204030204"/>
              </a:rPr>
              <a:t> a navbar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menupontnal</a:t>
            </a:r>
            <a:r>
              <a:rPr lang="en-US" dirty="0">
                <a:ea typeface="Calibri" panose="020F0502020204030204"/>
                <a:cs typeface="Calibri" panose="020F0502020204030204"/>
              </a:rPr>
              <a:t> hamburger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menut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hasznalok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9563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miki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04540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Mindeki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sajat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dolgat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elmondja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6849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Atvaltunk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az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oldalra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CBD90C-AA85-4993-8EB6-76EB5E29832B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410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68210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83934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98377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9744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880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230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6486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003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266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0452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8758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5239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314036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01077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6257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37705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696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EDC9E-3FF7-41AA-B8B8-BFACC835DF58}" type="datetimeFigureOut">
              <a:rPr lang="hu-HU" smtClean="0"/>
              <a:t>2026. 04. 18.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3F237E-5E96-4022-8783-9FA1949C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590368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  <p:sldLayoutId id="2147483924" r:id="rId12"/>
    <p:sldLayoutId id="2147483925" r:id="rId13"/>
    <p:sldLayoutId id="2147483926" r:id="rId14"/>
    <p:sldLayoutId id="2147483927" r:id="rId15"/>
    <p:sldLayoutId id="2147483928" r:id="rId16"/>
    <p:sldLayoutId id="214748392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F2B39E9-45BB-420D-ADBE-F22A1AF39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0C22308-5FE4-44C3-A4C1-3558B31E41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1523" y="1107388"/>
            <a:ext cx="9408954" cy="2387600"/>
          </a:xfrm>
        </p:spPr>
        <p:txBody>
          <a:bodyPr/>
          <a:lstStyle/>
          <a:p>
            <a:r>
              <a:rPr lang="hu-HU" dirty="0" err="1">
                <a:solidFill>
                  <a:srgbClr val="01F10C"/>
                </a:solidFill>
              </a:rPr>
              <a:t>Nexusdev</a:t>
            </a:r>
            <a:r>
              <a:rPr lang="hu-HU" dirty="0">
                <a:solidFill>
                  <a:srgbClr val="01F10C"/>
                </a:solidFill>
              </a:rPr>
              <a:t> - Vizsgaremek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C729069-7E40-454C-B8C1-20C3BACC3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429000"/>
            <a:ext cx="9001462" cy="907330"/>
          </a:xfrm>
        </p:spPr>
        <p:txBody>
          <a:bodyPr/>
          <a:lstStyle/>
          <a:p>
            <a:r>
              <a:rPr lang="hu-HU" dirty="0">
                <a:solidFill>
                  <a:srgbClr val="008200"/>
                </a:solidFill>
              </a:rPr>
              <a:t>Készítette: Farkas Miklós, Simó Zsolt, </a:t>
            </a:r>
            <a:r>
              <a:rPr lang="hu-HU" dirty="0" err="1">
                <a:solidFill>
                  <a:srgbClr val="008200"/>
                </a:solidFill>
              </a:rPr>
              <a:t>Medgyes</a:t>
            </a:r>
            <a:r>
              <a:rPr lang="hu-HU" dirty="0">
                <a:solidFill>
                  <a:srgbClr val="008200"/>
                </a:solidFill>
              </a:rPr>
              <a:t> Vendel</a:t>
            </a:r>
          </a:p>
        </p:txBody>
      </p:sp>
    </p:spTree>
    <p:extLst>
      <p:ext uri="{BB962C8B-B14F-4D97-AF65-F5344CB8AC3E}">
        <p14:creationId xmlns:p14="http://schemas.microsoft.com/office/powerpoint/2010/main" val="2811826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55BFE73-42A6-43DC-9A9C-54E273644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AB0E525-7BB4-44CA-BAA3-D58CCF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32528"/>
            <a:ext cx="10353761" cy="1260333"/>
          </a:xfrm>
        </p:spPr>
        <p:txBody>
          <a:bodyPr>
            <a:normAutofit/>
          </a:bodyPr>
          <a:lstStyle/>
          <a:p>
            <a:r>
              <a:rPr lang="hu-HU" sz="4400" dirty="0">
                <a:solidFill>
                  <a:srgbClr val="01F10C"/>
                </a:solidFill>
              </a:rPr>
              <a:t>Alapötlet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F13CECCD-82D0-4D36-9960-729EDAA415F7}"/>
              </a:ext>
            </a:extLst>
          </p:cNvPr>
          <p:cNvSpPr/>
          <p:nvPr/>
        </p:nvSpPr>
        <p:spPr>
          <a:xfrm>
            <a:off x="919119" y="1492861"/>
            <a:ext cx="10353761" cy="4757111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BB60E4A7-BDC7-4213-A8A0-5A59846A409A}"/>
              </a:ext>
            </a:extLst>
          </p:cNvPr>
          <p:cNvSpPr txBox="1"/>
          <p:nvPr/>
        </p:nvSpPr>
        <p:spPr>
          <a:xfrm>
            <a:off x="1128073" y="2586705"/>
            <a:ext cx="9935852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800">
                <a:solidFill>
                  <a:srgbClr val="01F10C"/>
                </a:solidFill>
                <a:latin typeface="Berlin Sans FB"/>
              </a:rPr>
              <a:t>Hiánypótló platform fejlesztési megrendelésekhez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8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rgbClr val="01F10C"/>
                </a:solidFill>
                <a:latin typeface="Berlin Sans FB" panose="020E0602020502020306" pitchFamily="34" charset="0"/>
              </a:rPr>
              <a:t>Átlátható kommunikáció fejlesztő és ügyfél között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8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rgbClr val="01F10C"/>
                </a:solidFill>
                <a:latin typeface="Berlin Sans FB" panose="020E0602020502020306" pitchFamily="34" charset="0"/>
              </a:rPr>
              <a:t>Webes és asztali felületen is használható</a:t>
            </a:r>
          </a:p>
        </p:txBody>
      </p:sp>
    </p:spTree>
    <p:extLst>
      <p:ext uri="{BB962C8B-B14F-4D97-AF65-F5344CB8AC3E}">
        <p14:creationId xmlns:p14="http://schemas.microsoft.com/office/powerpoint/2010/main" val="772907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C601D319-1FA8-455A-A221-1812B1F57A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BD443C3-AAF2-4F10-870D-52AAD1711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1" cy="1326321"/>
          </a:xfrm>
        </p:spPr>
        <p:txBody>
          <a:bodyPr>
            <a:normAutofit/>
          </a:bodyPr>
          <a:lstStyle/>
          <a:p>
            <a:r>
              <a:rPr lang="hu-HU" sz="4000" dirty="0">
                <a:solidFill>
                  <a:srgbClr val="01F10C"/>
                </a:solidFill>
              </a:rPr>
              <a:t>Mik voltak a céljaink?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D2109B2C-E8F7-4AA7-BB68-417CC7C64C0E}"/>
              </a:ext>
            </a:extLst>
          </p:cNvPr>
          <p:cNvSpPr/>
          <p:nvPr/>
        </p:nvSpPr>
        <p:spPr>
          <a:xfrm>
            <a:off x="919119" y="1492861"/>
            <a:ext cx="10353761" cy="4757111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2648478C-3035-41F5-9D29-729C7D81BF51}"/>
              </a:ext>
            </a:extLst>
          </p:cNvPr>
          <p:cNvSpPr txBox="1"/>
          <p:nvPr/>
        </p:nvSpPr>
        <p:spPr>
          <a:xfrm>
            <a:off x="1128073" y="2209422"/>
            <a:ext cx="993585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 dirty="0">
                <a:solidFill>
                  <a:srgbClr val="01F10C"/>
                </a:solidFill>
                <a:latin typeface="Berlin Sans FB" panose="020E0602020502020306" pitchFamily="34" charset="0"/>
              </a:rPr>
              <a:t>Egyszerű megrendelési folyamat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 dirty="0">
                <a:solidFill>
                  <a:srgbClr val="01F10C"/>
                </a:solidFill>
                <a:latin typeface="Berlin Sans FB" panose="020E0602020502020306" pitchFamily="34" charset="0"/>
              </a:rPr>
              <a:t>Élő chat az ügyfél és a fejlesztők között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Admin</a:t>
            </a:r>
            <a:r>
              <a:rPr lang="hu-HU" sz="3000" dirty="0">
                <a:solidFill>
                  <a:srgbClr val="01F10C"/>
                </a:solidFill>
                <a:latin typeface="Berlin Sans FB" panose="020E0602020502020306" pitchFamily="34" charset="0"/>
              </a:rPr>
              <a:t> felület a projektek kezeléséhez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 dirty="0">
                <a:solidFill>
                  <a:srgbClr val="01F10C"/>
                </a:solidFill>
                <a:latin typeface="Berlin Sans FB" panose="020E0602020502020306" pitchFamily="34" charset="0"/>
              </a:rPr>
              <a:t>Valós, piacképes szolgáltatás modellje</a:t>
            </a:r>
          </a:p>
        </p:txBody>
      </p:sp>
    </p:spTree>
    <p:extLst>
      <p:ext uri="{BB962C8B-B14F-4D97-AF65-F5344CB8AC3E}">
        <p14:creationId xmlns:p14="http://schemas.microsoft.com/office/powerpoint/2010/main" val="2402902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C601D319-1FA8-455A-A221-1812B1F57A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BD443C3-AAF2-4F10-870D-52AAD1711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255" y="0"/>
            <a:ext cx="11840067" cy="1162923"/>
          </a:xfrm>
        </p:spPr>
        <p:txBody>
          <a:bodyPr>
            <a:normAutofit/>
          </a:bodyPr>
          <a:lstStyle/>
          <a:p>
            <a:r>
              <a:rPr lang="hu-HU" sz="2800" dirty="0">
                <a:solidFill>
                  <a:srgbClr val="01F10C"/>
                </a:solidFill>
              </a:rPr>
              <a:t>Felhasznált technológiák/ fejlesztői környezetek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D2109B2C-E8F7-4AA7-BB68-417CC7C64C0E}"/>
              </a:ext>
            </a:extLst>
          </p:cNvPr>
          <p:cNvSpPr/>
          <p:nvPr/>
        </p:nvSpPr>
        <p:spPr>
          <a:xfrm>
            <a:off x="334659" y="1162923"/>
            <a:ext cx="5519388" cy="5398132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2648478C-3035-41F5-9D29-729C7D81BF51}"/>
              </a:ext>
            </a:extLst>
          </p:cNvPr>
          <p:cNvSpPr txBox="1"/>
          <p:nvPr/>
        </p:nvSpPr>
        <p:spPr>
          <a:xfrm>
            <a:off x="456418" y="1675113"/>
            <a:ext cx="527586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Frontend: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Vite</a:t>
            </a: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React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Backend: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NodeJs</a:t>
            </a: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 Express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Adatbázis: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InnoDb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Alkalmazás: C# WPF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Design: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Figma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Tervezés: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LucidChart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F54302FC-CBDE-4100-A096-3335ABEB1DA0}"/>
              </a:ext>
            </a:extLst>
          </p:cNvPr>
          <p:cNvSpPr/>
          <p:nvPr/>
        </p:nvSpPr>
        <p:spPr>
          <a:xfrm>
            <a:off x="6337952" y="1162923"/>
            <a:ext cx="5519388" cy="5398132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A89A4570-E59A-4808-BC91-D0041A9B79B1}"/>
              </a:ext>
            </a:extLst>
          </p:cNvPr>
          <p:cNvSpPr txBox="1"/>
          <p:nvPr/>
        </p:nvSpPr>
        <p:spPr>
          <a:xfrm>
            <a:off x="6459713" y="3097611"/>
            <a:ext cx="527586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PhpMyadmin</a:t>
            </a: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,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Apache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Visual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Studio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GitHub( verziókezelés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Trello</a:t>
            </a: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( feladatok követése )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5AD90F7-9C4A-4099-BB27-32C3EFFB1131}"/>
              </a:ext>
            </a:extLst>
          </p:cNvPr>
          <p:cNvSpPr txBox="1"/>
          <p:nvPr/>
        </p:nvSpPr>
        <p:spPr>
          <a:xfrm>
            <a:off x="6459713" y="2001216"/>
            <a:ext cx="3204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Visual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Studio</a:t>
            </a:r>
            <a:r>
              <a:rPr lang="hu-HU" sz="2400" dirty="0">
                <a:solidFill>
                  <a:srgbClr val="01F10C"/>
                </a:solidFill>
                <a:latin typeface="Berlin Sans FB" panose="020E0602020502020306" pitchFamily="34" charset="0"/>
              </a:rPr>
              <a:t> </a:t>
            </a:r>
            <a:r>
              <a:rPr lang="hu-HU" sz="24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Code</a:t>
            </a:r>
            <a:endParaRPr lang="hu-HU" sz="24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8228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1002D-9DFE-CAF3-17E1-8B0B48652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D930AAA-E374-F5B0-D1D5-20C23F8EE7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C45702A-4635-9B9E-581C-6E89EFAA4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1" cy="1326321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Program funkciói</a:t>
            </a:r>
            <a:endParaRPr lang="hu-HU" sz="4000" dirty="0">
              <a:solidFill>
                <a:srgbClr val="01F10C"/>
              </a:solidFill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0A51334D-3891-2C14-4F35-52B449B45317}"/>
              </a:ext>
            </a:extLst>
          </p:cNvPr>
          <p:cNvSpPr/>
          <p:nvPr/>
        </p:nvSpPr>
        <p:spPr>
          <a:xfrm>
            <a:off x="919119" y="1492861"/>
            <a:ext cx="10353761" cy="4757111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D7C3AB6-1221-CB27-C9C5-41B644873085}"/>
              </a:ext>
            </a:extLst>
          </p:cNvPr>
          <p:cNvSpPr txBox="1"/>
          <p:nvPr/>
        </p:nvSpPr>
        <p:spPr>
          <a:xfrm>
            <a:off x="1128073" y="2643081"/>
            <a:ext cx="9935852" cy="332398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Regisztráció, Bejelentkezés</a:t>
            </a: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Rendelés készítés illetve élő chat funkció</a:t>
            </a:r>
            <a:endParaRPr lang="hu-HU" sz="30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Profil adatmodosítások</a:t>
            </a:r>
            <a:endParaRPr lang="hu-HU" sz="30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810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8CEFA-4F88-E985-F7E8-A883811B3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02C909-D244-1152-A882-0CA913278B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2303E3-5D9B-E17C-24E1-23B2B2C55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1" cy="1053736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Backend</a:t>
            </a:r>
            <a:endParaRPr lang="hu-HU" sz="4000" dirty="0">
              <a:solidFill>
                <a:srgbClr val="01F10C"/>
              </a:solidFill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78BB33E3-EC67-1775-98D9-582AB0A23A7A}"/>
              </a:ext>
            </a:extLst>
          </p:cNvPr>
          <p:cNvSpPr/>
          <p:nvPr/>
        </p:nvSpPr>
        <p:spPr>
          <a:xfrm>
            <a:off x="219070" y="1053007"/>
            <a:ext cx="5348103" cy="5457159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1A41DDC-3521-4428-F7E2-AE00CA484243}"/>
              </a:ext>
            </a:extLst>
          </p:cNvPr>
          <p:cNvSpPr txBox="1"/>
          <p:nvPr/>
        </p:nvSpPr>
        <p:spPr>
          <a:xfrm>
            <a:off x="428092" y="2034831"/>
            <a:ext cx="4917804" cy="387798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Node.js környezet</a:t>
            </a:r>
            <a:endParaRPr lang="hu-HU" sz="36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Express keretrendszer</a:t>
            </a:r>
            <a:endParaRPr lang="hu-HU" sz="36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Rest API alapú kommunikáció</a:t>
            </a: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pic>
        <p:nvPicPr>
          <p:cNvPr id="3" name="Kép 2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56623FA1-32CB-34DF-6DAC-FC4CB81CF7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607" y="1369742"/>
            <a:ext cx="3847710" cy="4824760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DECD01B4-FC90-7BBB-35DB-90164FE56B42}"/>
              </a:ext>
            </a:extLst>
          </p:cNvPr>
          <p:cNvSpPr/>
          <p:nvPr/>
        </p:nvSpPr>
        <p:spPr>
          <a:xfrm>
            <a:off x="7269054" y="1368284"/>
            <a:ext cx="3844691" cy="4829716"/>
          </a:xfrm>
          <a:prstGeom prst="rect">
            <a:avLst/>
          </a:prstGeom>
          <a:noFill/>
          <a:ln w="28575">
            <a:solidFill>
              <a:srgbClr val="01F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9739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55BFE73-42A6-43DC-9A9C-54E273644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AB0E525-7BB4-44CA-BAA3-D58CCF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264" y="845857"/>
            <a:ext cx="11760551" cy="892149"/>
          </a:xfrm>
        </p:spPr>
        <p:txBody>
          <a:bodyPr>
            <a:noAutofit/>
          </a:bodyPr>
          <a:lstStyle/>
          <a:p>
            <a:r>
              <a:rPr lang="hu-HU" sz="3600" dirty="0">
                <a:solidFill>
                  <a:srgbClr val="01F10C"/>
                </a:solidFill>
              </a:rPr>
              <a:t>Adatbázis tervezése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F13CECCD-82D0-4D36-9960-729EDAA415F7}"/>
              </a:ext>
            </a:extLst>
          </p:cNvPr>
          <p:cNvSpPr/>
          <p:nvPr/>
        </p:nvSpPr>
        <p:spPr>
          <a:xfrm>
            <a:off x="182265" y="2198038"/>
            <a:ext cx="4530217" cy="3798492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BB60E4A7-BDC7-4213-A8A0-5A59846A409A}"/>
              </a:ext>
            </a:extLst>
          </p:cNvPr>
          <p:cNvSpPr txBox="1"/>
          <p:nvPr/>
        </p:nvSpPr>
        <p:spPr>
          <a:xfrm>
            <a:off x="182265" y="2198037"/>
            <a:ext cx="453021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 dirty="0">
                <a:solidFill>
                  <a:srgbClr val="01F10C"/>
                </a:solidFill>
                <a:latin typeface="Berlin Sans FB" panose="020E0602020502020306" pitchFamily="34" charset="0"/>
              </a:rPr>
              <a:t>3 fő tábla: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26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Users</a:t>
            </a:r>
            <a:endParaRPr lang="hu-HU" sz="2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26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Orders</a:t>
            </a:r>
            <a:endParaRPr lang="hu-HU" sz="2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2600" dirty="0" err="1">
                <a:solidFill>
                  <a:srgbClr val="01F10C"/>
                </a:solidFill>
                <a:latin typeface="Berlin Sans FB" panose="020E0602020502020306" pitchFamily="34" charset="0"/>
              </a:rPr>
              <a:t>Order_messages</a:t>
            </a:r>
            <a:endParaRPr lang="hu-HU" sz="2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lvl="1"/>
            <a:endParaRPr lang="hu-HU" sz="2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 dirty="0">
                <a:solidFill>
                  <a:srgbClr val="01F10C"/>
                </a:solidFill>
                <a:latin typeface="Berlin Sans FB" panose="020E0602020502020306" pitchFamily="34" charset="0"/>
              </a:rPr>
              <a:t>Kapcsolatok és kulcsok</a:t>
            </a:r>
          </a:p>
          <a:p>
            <a:endParaRPr lang="hu-HU" sz="2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 dirty="0">
                <a:solidFill>
                  <a:srgbClr val="01F10C"/>
                </a:solidFill>
                <a:latin typeface="Berlin Sans FB" panose="020E0602020502020306" pitchFamily="34" charset="0"/>
              </a:rPr>
              <a:t>Normalizált szerkezet (3NF)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3128447-4DC8-436E-ABA5-E29B28A9D5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672" y="2198040"/>
            <a:ext cx="6981145" cy="3798492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EEEA8F3C-D540-400A-962A-86DC1F627C41}"/>
              </a:ext>
            </a:extLst>
          </p:cNvPr>
          <p:cNvSpPr/>
          <p:nvPr/>
        </p:nvSpPr>
        <p:spPr>
          <a:xfrm>
            <a:off x="4961671" y="2198038"/>
            <a:ext cx="6981145" cy="3798492"/>
          </a:xfrm>
          <a:prstGeom prst="rect">
            <a:avLst/>
          </a:prstGeom>
          <a:noFill/>
          <a:ln w="38100" cap="flat" cmpd="sng" algn="ctr">
            <a:solidFill>
              <a:srgbClr val="01F10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818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138D6-A355-DBD9-75E1-0C5B09970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37FCEF95-BFDF-F6EA-29D0-1B2816216B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02F74C0-95C9-24F7-9333-20F44CD5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264" y="845857"/>
            <a:ext cx="11760551" cy="892149"/>
          </a:xfrm>
        </p:spPr>
        <p:txBody>
          <a:bodyPr>
            <a:noAutofit/>
          </a:bodyPr>
          <a:lstStyle/>
          <a:p>
            <a:r>
              <a:rPr lang="hu-HU" sz="3600">
                <a:solidFill>
                  <a:srgbClr val="01F10C"/>
                </a:solidFill>
              </a:rPr>
              <a:t>Elkészült adatbázis</a:t>
            </a:r>
            <a:endParaRPr lang="hu-HU" sz="3600" dirty="0">
              <a:solidFill>
                <a:srgbClr val="01F10C"/>
              </a:solidFill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EFDE37E8-82D2-2AED-6C15-25F2D8B6AAAC}"/>
              </a:ext>
            </a:extLst>
          </p:cNvPr>
          <p:cNvSpPr/>
          <p:nvPr/>
        </p:nvSpPr>
        <p:spPr>
          <a:xfrm>
            <a:off x="182265" y="2198038"/>
            <a:ext cx="4530217" cy="3798492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2EC9DCEB-3749-864D-433E-E2D8A0A0F101}"/>
              </a:ext>
            </a:extLst>
          </p:cNvPr>
          <p:cNvSpPr txBox="1"/>
          <p:nvPr/>
        </p:nvSpPr>
        <p:spPr>
          <a:xfrm>
            <a:off x="182265" y="2198037"/>
            <a:ext cx="4530217" cy="36933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>
                <a:solidFill>
                  <a:srgbClr val="01F10C"/>
                </a:solidFill>
                <a:latin typeface="Berlin Sans FB"/>
              </a:rPr>
              <a:t>Chat üzenetek tárolása</a:t>
            </a: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>
                <a:solidFill>
                  <a:srgbClr val="01F10C"/>
                </a:solidFill>
                <a:latin typeface="Berlin Sans FB"/>
              </a:rPr>
              <a:t>Küldő, időbélyeg</a:t>
            </a: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>
                <a:solidFill>
                  <a:srgbClr val="01F10C"/>
                </a:solidFill>
                <a:latin typeface="Berlin Sans FB"/>
              </a:rPr>
              <a:t>Kapcsolat rendeléshez és felhasználóhoz</a:t>
            </a: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26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600">
                <a:solidFill>
                  <a:srgbClr val="01F10C"/>
                </a:solidFill>
                <a:latin typeface="Berlin Sans FB"/>
              </a:rPr>
              <a:t>Valós idejű kommunikáció alapjai</a:t>
            </a:r>
            <a:endParaRPr lang="hu-HU" sz="2600" dirty="0">
              <a:solidFill>
                <a:srgbClr val="01F10C"/>
              </a:solidFill>
              <a:latin typeface="Berlin Sans FB"/>
            </a:endParaRP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0F46A786-34B3-C320-FDD6-3303A03B3654}"/>
              </a:ext>
            </a:extLst>
          </p:cNvPr>
          <p:cNvSpPr/>
          <p:nvPr/>
        </p:nvSpPr>
        <p:spPr>
          <a:xfrm>
            <a:off x="4961671" y="2198038"/>
            <a:ext cx="6981145" cy="3798492"/>
          </a:xfrm>
          <a:prstGeom prst="rect">
            <a:avLst/>
          </a:prstGeom>
          <a:noFill/>
          <a:ln w="38100" cap="flat" cmpd="sng" algn="ctr">
            <a:solidFill>
              <a:srgbClr val="01F10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3" name="Kép 2" descr="A képen szöveg, képernyőkép, szoftver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ED4C3436-5E68-7617-A1DB-2553EE593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994" y="2199161"/>
            <a:ext cx="6978443" cy="379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97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E673-BFA0-DD02-B79C-5C21C4BFF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4C6DE3D0-545A-D129-C998-406987A639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839A58D-3CBE-60FE-DA20-D2F7340AD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537329" y="0"/>
            <a:ext cx="10353761" cy="1053736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Frontend</a:t>
            </a:r>
            <a:endParaRPr lang="hu-HU" sz="4000" dirty="0">
              <a:solidFill>
                <a:srgbClr val="01F10C"/>
              </a:solidFill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6631FC1A-ED6B-1761-7679-E24788132265}"/>
              </a:ext>
            </a:extLst>
          </p:cNvPr>
          <p:cNvSpPr/>
          <p:nvPr/>
        </p:nvSpPr>
        <p:spPr>
          <a:xfrm>
            <a:off x="870781" y="1053007"/>
            <a:ext cx="5348103" cy="5457159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33F52F3-0399-C7F5-6958-A9C6AA8372C2}"/>
              </a:ext>
            </a:extLst>
          </p:cNvPr>
          <p:cNvSpPr txBox="1"/>
          <p:nvPr/>
        </p:nvSpPr>
        <p:spPr>
          <a:xfrm>
            <a:off x="1085930" y="1457204"/>
            <a:ext cx="4917804" cy="489364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React + Vite</a:t>
            </a: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ReactBootstrap, Bootstrap</a:t>
            </a:r>
            <a:endParaRPr lang="hu-HU" sz="36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Komponens alapú felépítés</a:t>
            </a: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pic>
        <p:nvPicPr>
          <p:cNvPr id="7" name="Kép 6" descr="A képen szöveg, képernyőkép, menü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F4F62F98-FCDD-71B3-DDD2-A9280497D9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6172" y="525630"/>
            <a:ext cx="2336131" cy="6067425"/>
          </a:xfrm>
          <a:prstGeom prst="rect">
            <a:avLst/>
          </a:prstGeom>
        </p:spPr>
      </p:pic>
      <p:sp>
        <p:nvSpPr>
          <p:cNvPr id="9" name="Téglalap 8">
            <a:extLst>
              <a:ext uri="{FF2B5EF4-FFF2-40B4-BE49-F238E27FC236}">
                <a16:creationId xmlns:a16="http://schemas.microsoft.com/office/drawing/2014/main" id="{E759B48B-11B4-D516-6B9D-152AF792A62B}"/>
              </a:ext>
            </a:extLst>
          </p:cNvPr>
          <p:cNvSpPr/>
          <p:nvPr/>
        </p:nvSpPr>
        <p:spPr>
          <a:xfrm>
            <a:off x="8071183" y="531394"/>
            <a:ext cx="2338136" cy="6067926"/>
          </a:xfrm>
          <a:prstGeom prst="rect">
            <a:avLst/>
          </a:prstGeom>
          <a:noFill/>
          <a:ln w="28575">
            <a:solidFill>
              <a:srgbClr val="01F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2626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0508-F766-F20D-FBBD-64849C1D1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8847383B-AF26-80AA-D469-DA13B5CD74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70223A3-0DA1-513B-579D-83EF4A00F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145" y="0"/>
            <a:ext cx="10353761" cy="1053736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Reszponzivitás</a:t>
            </a:r>
            <a:endParaRPr lang="hu-HU" sz="4000" dirty="0">
              <a:solidFill>
                <a:srgbClr val="01F10C"/>
              </a:solidFill>
            </a:endParaRPr>
          </a:p>
        </p:txBody>
      </p:sp>
      <p:pic>
        <p:nvPicPr>
          <p:cNvPr id="3" name="Kép 2" descr="A képen szöveg, képernyőkép, szoftver, kör látható&#10;&#10;Lehet, hogy az AI által létrehozott tartalom helytelen.">
            <a:extLst>
              <a:ext uri="{FF2B5EF4-FFF2-40B4-BE49-F238E27FC236}">
                <a16:creationId xmlns:a16="http://schemas.microsoft.com/office/drawing/2014/main" id="{4AAF964F-2744-E478-34AB-F62A60565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851" y="982578"/>
            <a:ext cx="2603712" cy="5564606"/>
          </a:xfrm>
          <a:prstGeom prst="rect">
            <a:avLst/>
          </a:prstGeom>
        </p:spPr>
      </p:pic>
      <p:pic>
        <p:nvPicPr>
          <p:cNvPr id="4" name="Kép 3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AD07F06-6893-36B2-0E87-76CEA8C499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006" y="992875"/>
            <a:ext cx="2643679" cy="5564606"/>
          </a:xfrm>
          <a:prstGeom prst="rect">
            <a:avLst/>
          </a:prstGeom>
        </p:spPr>
      </p:pic>
      <p:pic>
        <p:nvPicPr>
          <p:cNvPr id="10" name="Kép 9" descr="A képen szöveg, elektron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910E66C0-B067-6BBD-02EB-95C38577E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59" y="992875"/>
            <a:ext cx="2763906" cy="5556206"/>
          </a:xfrm>
          <a:prstGeom prst="rect">
            <a:avLst/>
          </a:prstGeom>
        </p:spPr>
      </p:pic>
      <p:sp>
        <p:nvSpPr>
          <p:cNvPr id="11" name="Téglalap 10">
            <a:extLst>
              <a:ext uri="{FF2B5EF4-FFF2-40B4-BE49-F238E27FC236}">
                <a16:creationId xmlns:a16="http://schemas.microsoft.com/office/drawing/2014/main" id="{4FC5E73B-AFB1-FEBC-1B57-FD685B3E837B}"/>
              </a:ext>
            </a:extLst>
          </p:cNvPr>
          <p:cNvSpPr/>
          <p:nvPr/>
        </p:nvSpPr>
        <p:spPr>
          <a:xfrm>
            <a:off x="1173079" y="992605"/>
            <a:ext cx="2598821" cy="5556584"/>
          </a:xfrm>
          <a:prstGeom prst="rect">
            <a:avLst/>
          </a:prstGeom>
          <a:noFill/>
          <a:ln>
            <a:solidFill>
              <a:srgbClr val="01F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DFE0D0EE-5142-EC19-0E49-CBD2A3CC61F7}"/>
              </a:ext>
            </a:extLst>
          </p:cNvPr>
          <p:cNvSpPr/>
          <p:nvPr/>
        </p:nvSpPr>
        <p:spPr>
          <a:xfrm>
            <a:off x="4772526" y="992604"/>
            <a:ext cx="2598821" cy="5556584"/>
          </a:xfrm>
          <a:prstGeom prst="rect">
            <a:avLst/>
          </a:prstGeom>
          <a:noFill/>
          <a:ln>
            <a:solidFill>
              <a:srgbClr val="01F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F385E0BE-CDB1-E4EE-FF20-D479C2DD0CFB}"/>
              </a:ext>
            </a:extLst>
          </p:cNvPr>
          <p:cNvSpPr/>
          <p:nvPr/>
        </p:nvSpPr>
        <p:spPr>
          <a:xfrm>
            <a:off x="8422105" y="982578"/>
            <a:ext cx="2759242" cy="5576636"/>
          </a:xfrm>
          <a:prstGeom prst="rect">
            <a:avLst/>
          </a:prstGeom>
          <a:noFill/>
          <a:ln>
            <a:solidFill>
              <a:srgbClr val="01F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0612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DBE83-A67D-9EB2-A3EC-36C51B4FC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C353DB0C-0934-B3B8-0917-1253AE4685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59DAE13-FAA4-C78C-0AB8-8EC7D6A1D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145" y="0"/>
            <a:ext cx="10353761" cy="1053736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Jövöbeli tervek</a:t>
            </a:r>
            <a:endParaRPr lang="hu-HU" sz="4000" dirty="0">
              <a:solidFill>
                <a:srgbClr val="01F10C"/>
              </a:solidFill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A3F1B03C-D66C-A957-BCBA-B93C7A606E51}"/>
              </a:ext>
            </a:extLst>
          </p:cNvPr>
          <p:cNvSpPr/>
          <p:nvPr/>
        </p:nvSpPr>
        <p:spPr>
          <a:xfrm>
            <a:off x="569992" y="1053007"/>
            <a:ext cx="5348103" cy="5457159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4567934-CAC1-FF63-0CBD-C6AD60624F29}"/>
              </a:ext>
            </a:extLst>
          </p:cNvPr>
          <p:cNvSpPr txBox="1"/>
          <p:nvPr/>
        </p:nvSpPr>
        <p:spPr>
          <a:xfrm>
            <a:off x="724784" y="2770597"/>
            <a:ext cx="4917804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Online fizetés</a:t>
            </a: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600">
                <a:solidFill>
                  <a:srgbClr val="01F10C"/>
                </a:solidFill>
                <a:latin typeface="Berlin Sans FB"/>
              </a:rPr>
              <a:t>Nyelvforditó gomb</a:t>
            </a:r>
            <a:endParaRPr lang="hu-HU" sz="36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pic>
        <p:nvPicPr>
          <p:cNvPr id="13" name="Kép 12" descr="The Top 10 Most Popular Online Payment Solutions">
            <a:extLst>
              <a:ext uri="{FF2B5EF4-FFF2-40B4-BE49-F238E27FC236}">
                <a16:creationId xmlns:a16="http://schemas.microsoft.com/office/drawing/2014/main" id="{4F0DF4D4-4FCB-E154-A46C-C3D07ADB59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982" t="78" r="14223" b="-78"/>
          <a:stretch>
            <a:fillRect/>
          </a:stretch>
        </p:blipFill>
        <p:spPr>
          <a:xfrm>
            <a:off x="6356350" y="1291167"/>
            <a:ext cx="5501862" cy="4921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856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BF38A-EAE0-8A24-7655-0874AE6D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8DD24461-AAF4-3914-C90F-E8AC076B5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EA53393-AA99-AFC9-8D1C-523CA3816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145" y="0"/>
            <a:ext cx="10353761" cy="1053736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01F10C"/>
                </a:solidFill>
              </a:rPr>
              <a:t>Csapatfelosztás</a:t>
            </a:r>
            <a:endParaRPr lang="hu-HU" sz="4000" dirty="0">
              <a:solidFill>
                <a:srgbClr val="01F10C"/>
              </a:solidFill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D49B2C24-1759-8E6B-945B-4A32A2ED0256}"/>
              </a:ext>
            </a:extLst>
          </p:cNvPr>
          <p:cNvSpPr/>
          <p:nvPr/>
        </p:nvSpPr>
        <p:spPr>
          <a:xfrm>
            <a:off x="359439" y="1053006"/>
            <a:ext cx="3613550" cy="5417055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223F2F64-5320-B5C4-715D-52877364A1E9}"/>
              </a:ext>
            </a:extLst>
          </p:cNvPr>
          <p:cNvSpPr txBox="1"/>
          <p:nvPr/>
        </p:nvSpPr>
        <p:spPr>
          <a:xfrm>
            <a:off x="474325" y="2138993"/>
            <a:ext cx="3383777" cy="470898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Backend szerver</a:t>
            </a: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Controller</a:t>
            </a: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Asztali alkalmazás</a:t>
            </a: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753CAD71-16AF-F6AB-F666-AA055A2DB570}"/>
              </a:ext>
            </a:extLst>
          </p:cNvPr>
          <p:cNvSpPr/>
          <p:nvPr/>
        </p:nvSpPr>
        <p:spPr>
          <a:xfrm>
            <a:off x="4269702" y="1053006"/>
            <a:ext cx="3633603" cy="5417055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37D0E87B-AF20-517B-5B55-0129AEC68F7B}"/>
              </a:ext>
            </a:extLst>
          </p:cNvPr>
          <p:cNvSpPr/>
          <p:nvPr/>
        </p:nvSpPr>
        <p:spPr>
          <a:xfrm>
            <a:off x="8240122" y="1032955"/>
            <a:ext cx="3623578" cy="5437107"/>
          </a:xfrm>
          <a:prstGeom prst="rect">
            <a:avLst/>
          </a:prstGeom>
          <a:solidFill>
            <a:schemeClr val="accent2">
              <a:lumMod val="50000"/>
              <a:alpha val="50000"/>
            </a:schemeClr>
          </a:solidFill>
          <a:ln w="28575">
            <a:solidFill>
              <a:srgbClr val="00C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732EC79A-7CB8-C175-6122-7A96A35B5EE2}"/>
              </a:ext>
            </a:extLst>
          </p:cNvPr>
          <p:cNvSpPr txBox="1">
            <a:spLocks/>
          </p:cNvSpPr>
          <p:nvPr/>
        </p:nvSpPr>
        <p:spPr>
          <a:xfrm>
            <a:off x="690519" y="1155031"/>
            <a:ext cx="3054603" cy="702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hu-HU" sz="2800">
                <a:solidFill>
                  <a:srgbClr val="01F10C"/>
                </a:solidFill>
              </a:rPr>
              <a:t>Simó Zsolt</a:t>
            </a:r>
            <a:endParaRPr lang="hu-HU" sz="2800"/>
          </a:p>
        </p:txBody>
      </p:sp>
      <p:sp>
        <p:nvSpPr>
          <p:cNvPr id="10" name="Cím 1">
            <a:extLst>
              <a:ext uri="{FF2B5EF4-FFF2-40B4-BE49-F238E27FC236}">
                <a16:creationId xmlns:a16="http://schemas.microsoft.com/office/drawing/2014/main" id="{118B1B89-D005-51CF-345B-5564AB251523}"/>
              </a:ext>
            </a:extLst>
          </p:cNvPr>
          <p:cNvSpPr txBox="1">
            <a:spLocks/>
          </p:cNvSpPr>
          <p:nvPr/>
        </p:nvSpPr>
        <p:spPr>
          <a:xfrm>
            <a:off x="4550650" y="1155031"/>
            <a:ext cx="3054603" cy="702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hu-HU" sz="2400">
                <a:solidFill>
                  <a:srgbClr val="01F10C"/>
                </a:solidFill>
              </a:rPr>
              <a:t>Farkas Miklós</a:t>
            </a:r>
            <a:endParaRPr lang="hu-HU" sz="2400"/>
          </a:p>
        </p:txBody>
      </p:sp>
      <p:sp>
        <p:nvSpPr>
          <p:cNvPr id="12" name="Cím 1">
            <a:extLst>
              <a:ext uri="{FF2B5EF4-FFF2-40B4-BE49-F238E27FC236}">
                <a16:creationId xmlns:a16="http://schemas.microsoft.com/office/drawing/2014/main" id="{2EB97A49-3BBA-7CB6-B7E9-5A498D18E9F6}"/>
              </a:ext>
            </a:extLst>
          </p:cNvPr>
          <p:cNvSpPr txBox="1">
            <a:spLocks/>
          </p:cNvSpPr>
          <p:nvPr/>
        </p:nvSpPr>
        <p:spPr>
          <a:xfrm>
            <a:off x="8440861" y="1155030"/>
            <a:ext cx="3255128" cy="7028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hu-HU" sz="2400">
                <a:solidFill>
                  <a:srgbClr val="01F10C"/>
                </a:solidFill>
              </a:rPr>
              <a:t>Medgyes Vendel</a:t>
            </a:r>
            <a:endParaRPr lang="hu-HU" sz="2400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5A6E3107-991C-D7AE-2ABA-0B463FF70131}"/>
              </a:ext>
            </a:extLst>
          </p:cNvPr>
          <p:cNvSpPr txBox="1"/>
          <p:nvPr/>
        </p:nvSpPr>
        <p:spPr>
          <a:xfrm>
            <a:off x="4384588" y="2138993"/>
            <a:ext cx="3383777" cy="424731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Frontend</a:t>
            </a: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Controller</a:t>
            </a: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Dokumentáció</a:t>
            </a:r>
            <a:endParaRPr lang="hu-HU" sz="30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519BF3D8-DE91-05E8-C295-6F8D3C89C278}"/>
              </a:ext>
            </a:extLst>
          </p:cNvPr>
          <p:cNvSpPr txBox="1"/>
          <p:nvPr/>
        </p:nvSpPr>
        <p:spPr>
          <a:xfrm>
            <a:off x="8355009" y="2138993"/>
            <a:ext cx="3383777" cy="424731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Adatbázis</a:t>
            </a: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Tesztelés</a:t>
            </a: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3000">
                <a:solidFill>
                  <a:srgbClr val="01F10C"/>
                </a:solidFill>
                <a:latin typeface="Berlin Sans FB"/>
              </a:rPr>
              <a:t>Dokumentáció</a:t>
            </a:r>
            <a:endParaRPr lang="hu-HU" sz="300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  <a:p>
            <a:endParaRPr lang="hu-HU" sz="3000" dirty="0">
              <a:solidFill>
                <a:srgbClr val="01F10C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8225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4B32B-6716-99BD-5EE1-331548D1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21C58D9-179B-122E-836A-142558682A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4CADF1D-B1E9-95BD-4AAB-6AA6FF7A3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1523" y="2992335"/>
            <a:ext cx="9408954" cy="863600"/>
          </a:xfrm>
        </p:spPr>
        <p:txBody>
          <a:bodyPr/>
          <a:lstStyle/>
          <a:p>
            <a:r>
              <a:rPr lang="hu-HU">
                <a:solidFill>
                  <a:srgbClr val="01F10C"/>
                </a:solidFill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40585113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6D8C60"/>
      </a:dk2>
      <a:lt2>
        <a:srgbClr val="B1D7A1"/>
      </a:lt2>
      <a:accent1>
        <a:srgbClr val="81B992"/>
      </a:accent1>
      <a:accent2>
        <a:srgbClr val="9ABC65"/>
      </a:accent2>
      <a:accent3>
        <a:srgbClr val="BDB564"/>
      </a:accent3>
      <a:accent4>
        <a:srgbClr val="BD8964"/>
      </a:accent4>
      <a:accent5>
        <a:srgbClr val="BD6466"/>
      </a:accent5>
      <a:accent6>
        <a:srgbClr val="64A4BD"/>
      </a:accent6>
      <a:hlink>
        <a:srgbClr val="8CCC71"/>
      </a:hlink>
      <a:folHlink>
        <a:srgbClr val="A4C795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4539428D-6454-4FE6-B992-2D59F0AC2F89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Damaszt</Template>
  <TotalTime>92</TotalTime>
  <Words>163</Words>
  <Application>Microsoft Office PowerPoint</Application>
  <PresentationFormat>Szélesvásznú</PresentationFormat>
  <Paragraphs>66</Paragraphs>
  <Slides>13</Slides>
  <Notes>12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4" baseType="lpstr">
      <vt:lpstr>Damask</vt:lpstr>
      <vt:lpstr>Nexusdev - Vizsgaremek</vt:lpstr>
      <vt:lpstr>Alapötlet</vt:lpstr>
      <vt:lpstr>Mik voltak a céljaink?</vt:lpstr>
      <vt:lpstr>Felhasznált technológiák/ fejlesztői környezetek</vt:lpstr>
      <vt:lpstr>Program funkciói</vt:lpstr>
      <vt:lpstr>Backend</vt:lpstr>
      <vt:lpstr>Adatbázis tervezése</vt:lpstr>
      <vt:lpstr>Elkészült adatbázis</vt:lpstr>
      <vt:lpstr>Frontend</vt:lpstr>
      <vt:lpstr>Reszponzivitás</vt:lpstr>
      <vt:lpstr>Jövöbeli tervek</vt:lpstr>
      <vt:lpstr>Csapatfelosztás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Nexusdev</dc:title>
  <dc:creator>Farkas Miklós Tibor 171</dc:creator>
  <cp:lastModifiedBy>Farkas Miklós Tibor 171</cp:lastModifiedBy>
  <cp:revision>356</cp:revision>
  <dcterms:created xsi:type="dcterms:W3CDTF">2026-03-17T12:12:11Z</dcterms:created>
  <dcterms:modified xsi:type="dcterms:W3CDTF">2026-04-18T16:59:55Z</dcterms:modified>
</cp:coreProperties>
</file>